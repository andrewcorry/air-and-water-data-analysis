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6" r:id="rId1"/>
  </p:sldMasterIdLst>
  <p:sldIdLst>
    <p:sldId id="258" r:id="rId2"/>
    <p:sldId id="257" r:id="rId3"/>
    <p:sldId id="259" r:id="rId4"/>
    <p:sldId id="260" r:id="rId5"/>
    <p:sldId id="266" r:id="rId6"/>
    <p:sldId id="264" r:id="rId7"/>
    <p:sldId id="268" r:id="rId8"/>
    <p:sldId id="270" r:id="rId9"/>
    <p:sldId id="271" r:id="rId10"/>
    <p:sldId id="272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7096994-4360-402A-8BEC-21E013E7A63F}" v="46" dt="2022-05-03T21:29:21.817"/>
    <p1510:client id="{3F35A6D6-16F4-4DDA-A503-D3D039A4C1FC}" v="222" dt="2022-05-01T16:00:28.632"/>
    <p1510:client id="{4B8022AB-3698-48A6-8578-0B6A8BA50E4B}" v="940" dt="2022-05-02T21:58:34.889"/>
    <p1510:client id="{7BD0BBD3-09D5-4BDF-813F-9545B39CCD0A}" v="14" dt="2022-04-28T20:29:58.016"/>
    <p1510:client id="{A5B380C3-0D68-4826-AC5F-8D832F115F8E}" v="260" dt="2022-05-03T17:51:41.904"/>
    <p1510:client id="{ED906D1B-DC6C-4F30-87B1-9AFD0945B48F}" v="1" dt="2022-04-29T15:37:19.78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/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5/3/2022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3202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5/3/2022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33717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5/3/2022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24324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dirty="0"/>
              <a:t>5/3/2022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61493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5/3/2022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21360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5/3/2022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99758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5/3/2022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06160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dirty="0"/>
              <a:t>5/3/2022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65984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5/3/2022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89469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5/3/2022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68295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5/3/2022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700983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5/3/2022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33154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5/3/2022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1946394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5/3/2022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549720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dirty="0"/>
              <a:t>5/3/2022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800933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5/3/2022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0637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5/3/2022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91109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7" r:id="rId1"/>
    <p:sldLayoutId id="2147483768" r:id="rId2"/>
    <p:sldLayoutId id="2147483769" r:id="rId3"/>
    <p:sldLayoutId id="2147483770" r:id="rId4"/>
    <p:sldLayoutId id="2147483771" r:id="rId5"/>
    <p:sldLayoutId id="2147483772" r:id="rId6"/>
    <p:sldLayoutId id="2147483773" r:id="rId7"/>
    <p:sldLayoutId id="2147483774" r:id="rId8"/>
    <p:sldLayoutId id="2147483775" r:id="rId9"/>
    <p:sldLayoutId id="2147483776" r:id="rId10"/>
    <p:sldLayoutId id="2147483777" r:id="rId11"/>
    <p:sldLayoutId id="2147483778" r:id="rId12"/>
    <p:sldLayoutId id="2147483779" r:id="rId13"/>
    <p:sldLayoutId id="2147483780" r:id="rId14"/>
    <p:sldLayoutId id="2147483781" r:id="rId15"/>
    <p:sldLayoutId id="2147483782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map.purpleair.com/" TargetMode="External"/><Relationship Id="rId2" Type="http://schemas.openxmlformats.org/officeDocument/2006/relationships/hyperlink" Target="https://waterdata.usgs.gov/nwis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ithub.com/AndrewCorry/Capstone_Specialization/blob/main/AirQualityAndWaterQuality.ipynb" TargetMode="External"/><Relationship Id="rId4" Type="http://schemas.openxmlformats.org/officeDocument/2006/relationships/hyperlink" Target="https://www.tceq.texas.gov/agency/data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7F571D-DC5B-3545-CFF1-820B6E6757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5497" y="1497390"/>
            <a:ext cx="9363506" cy="857089"/>
          </a:xfrm>
        </p:spPr>
        <p:txBody>
          <a:bodyPr/>
          <a:lstStyle/>
          <a:p>
            <a:pPr algn="ctr"/>
            <a:r>
              <a:rPr lang="en-US" sz="4800">
                <a:ea typeface="+mj-lt"/>
                <a:cs typeface="+mj-lt"/>
              </a:rPr>
              <a:t>Air Quality and Water Quality</a:t>
            </a:r>
            <a:endParaRPr lang="en-US" sz="480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C108A7-DCAF-4657-F761-BA4DCC1001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80067" y="2880619"/>
            <a:ext cx="7766936" cy="1096899"/>
          </a:xfrm>
        </p:spPr>
        <p:txBody>
          <a:bodyPr>
            <a:normAutofit/>
          </a:bodyPr>
          <a:lstStyle/>
          <a:p>
            <a:pPr algn="ctr"/>
            <a:r>
              <a:rPr lang="en-US" sz="2000"/>
              <a:t>Data Analysis Capstone</a:t>
            </a:r>
          </a:p>
          <a:p>
            <a:pPr algn="ctr"/>
            <a:r>
              <a:rPr lang="en-US" sz="1600"/>
              <a:t>Python | Pandas | Jupyter Notebook | Anaconda | Matplotlib</a:t>
            </a:r>
          </a:p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57823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FCC9C2-B772-B564-40FE-06394F228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963385"/>
            <a:ext cx="8596668" cy="1039586"/>
          </a:xfrm>
        </p:spPr>
        <p:txBody>
          <a:bodyPr>
            <a:normAutofit/>
          </a:bodyPr>
          <a:lstStyle/>
          <a:p>
            <a:pPr algn="ctr"/>
            <a:r>
              <a:rPr lang="en-US" sz="4000"/>
              <a:t>Air VS Water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6B05CD-2CB6-F364-1FF5-30E0E8D041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634446"/>
            <a:ext cx="9004882" cy="3880773"/>
          </a:xfrm>
        </p:spPr>
        <p:txBody>
          <a:bodyPr vert="horz" lIns="91440" tIns="45720" rIns="91440" bIns="45720" rtlCol="0" anchor="t">
            <a:normAutofit fontScale="85000" lnSpcReduction="10000"/>
          </a:bodyPr>
          <a:lstStyle/>
          <a:p>
            <a:pPr lvl="1">
              <a:lnSpc>
                <a:spcPct val="260000"/>
              </a:lnSpc>
              <a:buFont typeface="Courier New" charset="2"/>
              <a:buChar char="o"/>
            </a:pPr>
            <a:r>
              <a:rPr lang="en-US" sz="3200"/>
              <a:t>Does the quality of air affect the quality of water?</a:t>
            </a:r>
            <a:endParaRPr lang="en-US"/>
          </a:p>
          <a:p>
            <a:pPr lvl="1">
              <a:lnSpc>
                <a:spcPct val="260000"/>
              </a:lnSpc>
              <a:buFont typeface="Courier New" charset="2"/>
              <a:buChar char="o"/>
            </a:pPr>
            <a:r>
              <a:rPr lang="en-US" sz="3200"/>
              <a:t>To what degree do they interact?</a:t>
            </a:r>
          </a:p>
          <a:p>
            <a:pPr lvl="1">
              <a:lnSpc>
                <a:spcPct val="260000"/>
              </a:lnSpc>
              <a:buFont typeface="Courier New" charset="2"/>
              <a:buChar char="o"/>
            </a:pPr>
            <a:r>
              <a:rPr lang="en-US" sz="3200"/>
              <a:t>Can we improve both by improving one?</a:t>
            </a:r>
          </a:p>
        </p:txBody>
      </p:sp>
    </p:spTree>
    <p:extLst>
      <p:ext uri="{BB962C8B-B14F-4D97-AF65-F5344CB8AC3E}">
        <p14:creationId xmlns:p14="http://schemas.microsoft.com/office/powerpoint/2010/main" val="33442396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D8316B-78E0-459B-0763-0DAD673A44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/>
              <a:t>Air Quality Concepts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D7E1CA-72BB-D1F1-3A08-FB97019AB9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668588"/>
            <a:ext cx="8596668" cy="3372774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250000"/>
              </a:lnSpc>
            </a:pPr>
            <a:r>
              <a:rPr lang="en-US"/>
              <a:t>The amount of particulates in the air</a:t>
            </a:r>
          </a:p>
          <a:p>
            <a:pPr>
              <a:lnSpc>
                <a:spcPct val="250000"/>
              </a:lnSpc>
            </a:pPr>
            <a:r>
              <a:rPr lang="en-US"/>
              <a:t>Hazardous to health, environment, and climate</a:t>
            </a:r>
          </a:p>
          <a:p>
            <a:pPr>
              <a:lnSpc>
                <a:spcPct val="250000"/>
              </a:lnSpc>
            </a:pPr>
            <a:r>
              <a:rPr lang="en-US"/>
              <a:t>Caused by burning fuels, or things like forest fires</a:t>
            </a:r>
          </a:p>
          <a:p>
            <a:pPr>
              <a:lnSpc>
                <a:spcPct val="250000"/>
              </a:lnSpc>
            </a:pPr>
            <a:r>
              <a:rPr lang="en-US"/>
              <a:t>Major contributor to poor air quality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5143D11-7F4C-CD00-4DC7-4296C99E0FE5}"/>
              </a:ext>
            </a:extLst>
          </p:cNvPr>
          <p:cNvSpPr txBox="1"/>
          <p:nvPr/>
        </p:nvSpPr>
        <p:spPr>
          <a:xfrm>
            <a:off x="678543" y="2084614"/>
            <a:ext cx="8594270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3200"/>
              <a:t>PM 2.5</a:t>
            </a:r>
          </a:p>
        </p:txBody>
      </p:sp>
    </p:spTree>
    <p:extLst>
      <p:ext uri="{BB962C8B-B14F-4D97-AF65-F5344CB8AC3E}">
        <p14:creationId xmlns:p14="http://schemas.microsoft.com/office/powerpoint/2010/main" val="14716280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28971B-6D67-6B24-DA29-6B27D51BFD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/>
              <a:t>Water Quality Concepts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6FF95A-5D91-435C-F972-D422618F8A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en-US"/>
              <a:t>Dissolved Oxygen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87DD0A-83A5-9139-779A-AB9DA0C2CF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294480" cy="3304117"/>
          </a:xfrm>
        </p:spPr>
        <p:txBody>
          <a:bodyPr vert="horz" lIns="91440" tIns="45720" rIns="91440" bIns="45720" rtlCol="0" anchor="t">
            <a:normAutofit fontScale="92500"/>
          </a:bodyPr>
          <a:lstStyle/>
          <a:p>
            <a:pPr>
              <a:lnSpc>
                <a:spcPct val="200000"/>
              </a:lnSpc>
            </a:pPr>
            <a:r>
              <a:rPr lang="en-US"/>
              <a:t>The amount of oxygen in water</a:t>
            </a:r>
          </a:p>
          <a:p>
            <a:pPr>
              <a:lnSpc>
                <a:spcPct val="200000"/>
              </a:lnSpc>
            </a:pPr>
            <a:r>
              <a:rPr lang="en-US"/>
              <a:t>Good for plants and animals</a:t>
            </a:r>
          </a:p>
          <a:p>
            <a:pPr>
              <a:lnSpc>
                <a:spcPct val="200000"/>
              </a:lnSpc>
            </a:pPr>
            <a:r>
              <a:rPr lang="en-US"/>
              <a:t>Fluctuates seasonally</a:t>
            </a:r>
          </a:p>
          <a:p>
            <a:pPr>
              <a:lnSpc>
                <a:spcPct val="200000"/>
              </a:lnSpc>
            </a:pPr>
            <a:r>
              <a:rPr lang="en-US"/>
              <a:t>Mainly comes from the atmosphere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C063397-0789-A30E-CE1A-7AA864A719F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algn="ctr"/>
            <a:r>
              <a:rPr lang="en-US"/>
              <a:t>pH Level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1F1CBB0-AE04-FAD8-D788-27DBA8F0FDA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970456" y="2737245"/>
            <a:ext cx="4303545" cy="3304117"/>
          </a:xfrm>
        </p:spPr>
        <p:txBody>
          <a:bodyPr vert="horz" lIns="91440" tIns="45720" rIns="91440" bIns="45720" rtlCol="0" anchor="t">
            <a:normAutofit fontScale="92500"/>
          </a:bodyPr>
          <a:lstStyle/>
          <a:p>
            <a:pPr>
              <a:lnSpc>
                <a:spcPct val="210000"/>
              </a:lnSpc>
            </a:pPr>
            <a:r>
              <a:rPr lang="en-US"/>
              <a:t>Measures acidic/basicness of water</a:t>
            </a:r>
          </a:p>
          <a:p>
            <a:pPr>
              <a:lnSpc>
                <a:spcPct val="210000"/>
              </a:lnSpc>
            </a:pPr>
            <a:r>
              <a:rPr lang="en-US"/>
              <a:t>Changes can corrode and hurt wildlife</a:t>
            </a:r>
          </a:p>
          <a:p>
            <a:pPr>
              <a:lnSpc>
                <a:spcPct val="210000"/>
              </a:lnSpc>
            </a:pPr>
            <a:r>
              <a:rPr lang="en-US"/>
              <a:t>Sea water wants to be around 8.0</a:t>
            </a:r>
          </a:p>
          <a:p>
            <a:pPr>
              <a:lnSpc>
                <a:spcPct val="210000"/>
              </a:lnSpc>
            </a:pPr>
            <a:r>
              <a:rPr lang="en-US"/>
              <a:t>Fluctuation negatively affects quality</a:t>
            </a:r>
          </a:p>
        </p:txBody>
      </p:sp>
    </p:spTree>
    <p:extLst>
      <p:ext uri="{BB962C8B-B14F-4D97-AF65-F5344CB8AC3E}">
        <p14:creationId xmlns:p14="http://schemas.microsoft.com/office/powerpoint/2010/main" val="31633282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7" descr="Calendar&#10;&#10;Description automatically generated">
            <a:extLst>
              <a:ext uri="{FF2B5EF4-FFF2-40B4-BE49-F238E27FC236}">
                <a16:creationId xmlns:a16="http://schemas.microsoft.com/office/drawing/2014/main" id="{30CFC755-B796-31E8-9835-3EA4CD083C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0937" y="512964"/>
            <a:ext cx="7566567" cy="524981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6284861-3EE4-3857-1F83-B2781971F668}"/>
              </a:ext>
            </a:extLst>
          </p:cNvPr>
          <p:cNvSpPr txBox="1"/>
          <p:nvPr/>
        </p:nvSpPr>
        <p:spPr>
          <a:xfrm>
            <a:off x="1250043" y="5758542"/>
            <a:ext cx="7541983" cy="41549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050"/>
              <a:t>Fig 1. Data taken from the daily average of pH and PM2.5 in </a:t>
            </a:r>
            <a:r>
              <a:rPr lang="en-US" sz="1050" err="1">
                <a:ea typeface="+mn-lt"/>
                <a:cs typeface="+mn-lt"/>
              </a:rPr>
              <a:t>μm</a:t>
            </a:r>
            <a:r>
              <a:rPr lang="en-US" sz="1050">
                <a:ea typeface="+mn-lt"/>
                <a:cs typeface="+mn-lt"/>
              </a:rPr>
              <a:t>/m</a:t>
            </a:r>
            <a:r>
              <a:rPr lang="en-US" sz="1050" baseline="30000">
                <a:ea typeface="+mn-lt"/>
                <a:cs typeface="+mn-lt"/>
              </a:rPr>
              <a:t>3</a:t>
            </a:r>
            <a:r>
              <a:rPr lang="en-US" sz="1050">
                <a:ea typeface="+mn-lt"/>
                <a:cs typeface="+mn-lt"/>
              </a:rPr>
              <a:t> in the Lynchburg</a:t>
            </a:r>
            <a:r>
              <a:rPr lang="en-US" sz="1050"/>
              <a:t> Canal water and surrounding air from the dates of 1/01/2022 to 4/01/2022</a:t>
            </a:r>
          </a:p>
        </p:txBody>
      </p:sp>
    </p:spTree>
    <p:extLst>
      <p:ext uri="{BB962C8B-B14F-4D97-AF65-F5344CB8AC3E}">
        <p14:creationId xmlns:p14="http://schemas.microsoft.com/office/powerpoint/2010/main" val="37460463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9" descr="Chart, scatter chart&#10;&#10;Description automatically generated">
            <a:extLst>
              <a:ext uri="{FF2B5EF4-FFF2-40B4-BE49-F238E27FC236}">
                <a16:creationId xmlns:a16="http://schemas.microsoft.com/office/drawing/2014/main" id="{12ED14A5-C21A-3950-0BBA-134F292C26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1233" y="581402"/>
            <a:ext cx="7560063" cy="524560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3480348-DA50-BEFC-3A0B-477D8DC01BA1}"/>
              </a:ext>
            </a:extLst>
          </p:cNvPr>
          <p:cNvSpPr txBox="1"/>
          <p:nvPr/>
        </p:nvSpPr>
        <p:spPr>
          <a:xfrm>
            <a:off x="1195615" y="5758541"/>
            <a:ext cx="7541983" cy="41549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050">
                <a:ea typeface="+mn-lt"/>
                <a:cs typeface="+mn-lt"/>
              </a:rPr>
              <a:t>Fig 2. Data taken from the daily average of Dissolved Oxygen measured in and PM2.5 in </a:t>
            </a:r>
            <a:r>
              <a:rPr lang="en-US" sz="1050" err="1"/>
              <a:t>μm</a:t>
            </a:r>
            <a:r>
              <a:rPr lang="en-US" sz="1050"/>
              <a:t>/m3 in the Lynchburg</a:t>
            </a:r>
            <a:r>
              <a:rPr lang="en-US" sz="1050">
                <a:ea typeface="+mn-lt"/>
                <a:cs typeface="+mn-lt"/>
              </a:rPr>
              <a:t> Canal water and surrounding air from the dates of 1/01/2022 to 4/01/2022</a:t>
            </a:r>
            <a:endParaRPr lang="en-US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4116944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24A66A-7EF1-0586-6824-F51222A10D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/>
              <a:t>Limits and Shortfalls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A6FE1D-F26A-D280-6B9C-F385A4927E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en-US"/>
              <a:t>Environmental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8F0AAC-4E26-0845-63B5-A79976C7720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200000"/>
              </a:lnSpc>
              <a:buFont typeface="Wingdings" charset="2"/>
              <a:buChar char="§"/>
            </a:pPr>
            <a:r>
              <a:rPr lang="en-US"/>
              <a:t>Air/Water constantly fluctuating</a:t>
            </a:r>
          </a:p>
          <a:p>
            <a:pPr>
              <a:lnSpc>
                <a:spcPct val="200000"/>
              </a:lnSpc>
              <a:buFont typeface="Wingdings" charset="2"/>
              <a:buChar char="§"/>
            </a:pPr>
            <a:r>
              <a:rPr lang="en-US"/>
              <a:t>Only one location</a:t>
            </a:r>
          </a:p>
          <a:p>
            <a:pPr>
              <a:lnSpc>
                <a:spcPct val="200000"/>
              </a:lnSpc>
              <a:buFont typeface="Wingdings" charset="2"/>
              <a:buChar char="§"/>
            </a:pPr>
            <a:r>
              <a:rPr lang="en-US"/>
              <a:t>No control</a:t>
            </a:r>
          </a:p>
          <a:p>
            <a:endParaRPr lang="en-US"/>
          </a:p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AA78313-F482-EC29-4DC1-54A949F896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algn="ctr"/>
            <a:r>
              <a:rPr lang="en-US"/>
              <a:t>Analytical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88ECBC4-8871-1CE5-63BB-450F90A87FF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13046" cy="3304117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200000"/>
              </a:lnSpc>
              <a:buFont typeface="Wingdings" charset="2"/>
              <a:buChar char="§"/>
            </a:pPr>
            <a:r>
              <a:rPr lang="en-US"/>
              <a:t>Low sample size (3 Months)</a:t>
            </a:r>
          </a:p>
          <a:p>
            <a:pPr>
              <a:lnSpc>
                <a:spcPct val="200000"/>
              </a:lnSpc>
              <a:buFont typeface="Wingdings" charset="2"/>
              <a:buChar char="§"/>
            </a:pPr>
            <a:r>
              <a:rPr lang="en-US"/>
              <a:t>Daily averages</a:t>
            </a:r>
          </a:p>
          <a:p>
            <a:pPr>
              <a:lnSpc>
                <a:spcPct val="200000"/>
              </a:lnSpc>
              <a:buFont typeface="Wingdings" charset="2"/>
              <a:buChar char="§"/>
            </a:pPr>
            <a:r>
              <a:rPr lang="en-US"/>
              <a:t>Lacking other key variables (ozone, salinity, </a:t>
            </a:r>
            <a:r>
              <a:rPr lang="en-US" err="1"/>
              <a:t>etc</a:t>
            </a:r>
            <a:r>
              <a:rPr lang="en-US"/>
              <a:t>)</a:t>
            </a:r>
          </a:p>
          <a:p>
            <a:endParaRPr lang="en-US"/>
          </a:p>
          <a:p>
            <a:endParaRPr lang="en-US"/>
          </a:p>
          <a:p>
            <a:pPr marL="0" indent="0">
              <a:buNone/>
            </a:pPr>
            <a:endParaRPr lang="en-US"/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87687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6DDC39-6534-0CEC-F414-6647D44E38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/>
              <a:t>Conclusions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7BC265-2BF2-AEEE-6064-DBA6EB28DD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1477" y="2069875"/>
            <a:ext cx="9875739" cy="388077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800100" lvl="2" indent="0">
              <a:buNone/>
            </a:pPr>
            <a:r>
              <a:rPr lang="en-US" sz="1800" dirty="0"/>
              <a:t>Within the limited timeframe and limited area of our data</a:t>
            </a:r>
          </a:p>
          <a:p>
            <a:pPr marL="800100" lvl="2" indent="0">
              <a:buNone/>
            </a:pPr>
            <a:endParaRPr lang="en-US" sz="1800" dirty="0"/>
          </a:p>
          <a:p>
            <a:pPr lvl="1">
              <a:lnSpc>
                <a:spcPct val="200000"/>
              </a:lnSpc>
              <a:buFont typeface="Wingdings" charset="2"/>
              <a:buChar char="ü"/>
            </a:pPr>
            <a:r>
              <a:rPr lang="en-US" sz="1800" dirty="0"/>
              <a:t>PM 2.5 might have no effect on the pH of surrounding water</a:t>
            </a:r>
          </a:p>
          <a:p>
            <a:pPr lvl="1">
              <a:lnSpc>
                <a:spcPct val="200000"/>
              </a:lnSpc>
              <a:buFont typeface="Wingdings" charset="2"/>
              <a:buChar char="ü"/>
            </a:pPr>
            <a:r>
              <a:rPr lang="en-US" sz="1800" dirty="0"/>
              <a:t>PM 2.5 might have a beneficial effect on the dissolved oxygen of surrounding water</a:t>
            </a:r>
          </a:p>
          <a:p>
            <a:pPr lvl="1">
              <a:lnSpc>
                <a:spcPct val="200000"/>
              </a:lnSpc>
              <a:buFont typeface="Wingdings" charset="2"/>
              <a:buChar char="ü"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4840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CBD32A-F985-D555-5BFD-AF56F84C9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/>
              <a:t>Further Study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25C7DF-3A24-8F6F-E526-20DAFB656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21191" y="2151518"/>
            <a:ext cx="8596668" cy="3880773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200000"/>
              </a:lnSpc>
              <a:buFont typeface="Wingdings" charset="2"/>
              <a:buChar char="v"/>
            </a:pPr>
            <a:r>
              <a:rPr lang="en-US" sz="2800"/>
              <a:t>Longer time frame</a:t>
            </a:r>
          </a:p>
          <a:p>
            <a:pPr>
              <a:lnSpc>
                <a:spcPct val="200000"/>
              </a:lnSpc>
              <a:buFont typeface="Wingdings" charset="2"/>
              <a:buChar char="v"/>
            </a:pPr>
            <a:r>
              <a:rPr lang="en-US" sz="2800"/>
              <a:t>More Variables</a:t>
            </a:r>
          </a:p>
          <a:p>
            <a:pPr>
              <a:lnSpc>
                <a:spcPct val="200000"/>
              </a:lnSpc>
              <a:buFont typeface="Wingdings" charset="2"/>
              <a:buChar char="v"/>
            </a:pPr>
            <a:r>
              <a:rPr lang="en-US" sz="2800"/>
              <a:t>More controlled environments</a:t>
            </a:r>
          </a:p>
          <a:p>
            <a:pPr>
              <a:buFont typeface="Wingdings" charset="2"/>
              <a:buChar char="v"/>
            </a:pPr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23327521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DFFE4B-B0B0-14D9-4A9B-F43524404E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CD133F-D41F-92C8-BEDD-959D304945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ea typeface="+mn-lt"/>
                <a:cs typeface="+mn-lt"/>
                <a:hlinkClick r:id="rId2"/>
              </a:rPr>
              <a:t>https://waterdata.usgs.gov/nwis</a:t>
            </a:r>
            <a:endParaRPr lang="en-US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ea typeface="+mn-lt"/>
                <a:cs typeface="+mn-lt"/>
                <a:hlinkClick r:id="rId3"/>
              </a:rPr>
              <a:t>https://map.purpleair.com/</a:t>
            </a:r>
            <a:endParaRPr lang="en-US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ea typeface="+mn-lt"/>
                <a:cs typeface="+mn-lt"/>
                <a:hlinkClick r:id="rId4"/>
              </a:rPr>
              <a:t>https://www.tceq.texas.gov/agency/data</a:t>
            </a:r>
            <a:endParaRPr lang="en-US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ea typeface="+mn-lt"/>
                <a:cs typeface="+mn-lt"/>
                <a:hlinkClick r:id="rId5"/>
              </a:rPr>
              <a:t>https://github.com/AndrewCorry/Capstone_Specialization/blob/main/AirQualityAndWaterQuality.ipynb</a:t>
            </a:r>
            <a:endParaRPr lang="en-US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9718752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Application>Microsoft Office PowerPoint</Application>
  <PresentationFormat>Widescreen</PresentationFormat>
  <Slides>10</Slides>
  <Notes>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1" baseType="lpstr">
      <vt:lpstr>Facet</vt:lpstr>
      <vt:lpstr>Air Quality and Water Quality</vt:lpstr>
      <vt:lpstr>Air VS Water</vt:lpstr>
      <vt:lpstr>Air Quality Concepts</vt:lpstr>
      <vt:lpstr>Water Quality Concepts</vt:lpstr>
      <vt:lpstr>PowerPoint Presentation</vt:lpstr>
      <vt:lpstr>PowerPoint Presentation</vt:lpstr>
      <vt:lpstr>Limits and Shortfalls</vt:lpstr>
      <vt:lpstr>Conclusions</vt:lpstr>
      <vt:lpstr>Further Study</vt:lpstr>
      <vt:lpstr>Sources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/>
  <cp:revision>18</cp:revision>
  <dcterms:created xsi:type="dcterms:W3CDTF">2022-04-28T20:28:39Z</dcterms:created>
  <dcterms:modified xsi:type="dcterms:W3CDTF">2022-05-03T21:29:31Z</dcterms:modified>
</cp:coreProperties>
</file>