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8" r:id="rId2"/>
    <p:sldId id="257" r:id="rId3"/>
    <p:sldId id="259" r:id="rId4"/>
    <p:sldId id="260" r:id="rId5"/>
    <p:sldId id="266" r:id="rId6"/>
    <p:sldId id="264" r:id="rId7"/>
    <p:sldId id="268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5A6D6-16F4-4DDA-A503-D3D039A4C1FC}" v="222" dt="2022-05-01T16:00:28.632"/>
    <p1510:client id="{4B8022AB-3698-48A6-8578-0B6A8BA50E4B}" v="940" dt="2022-05-02T21:58:34.889"/>
    <p1510:client id="{7BD0BBD3-09D5-4BDF-813F-9545B39CCD0A}" v="14" dt="2022-04-28T20:29:58.016"/>
    <p1510:client id="{A5B380C3-0D68-4826-AC5F-8D832F115F8E}" v="260" dt="2022-05-03T17:51:41.904"/>
    <p1510:client id="{ED906D1B-DC6C-4F30-87B1-9AFD0945B48F}" v="1" dt="2022-04-29T15:37:19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0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7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3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4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7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9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4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2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009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15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46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97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09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6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1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571D-DC5B-3545-CFF1-820B6E675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497" y="1497390"/>
            <a:ext cx="9363506" cy="857089"/>
          </a:xfrm>
        </p:spPr>
        <p:txBody>
          <a:bodyPr/>
          <a:lstStyle/>
          <a:p>
            <a:pPr algn="ctr"/>
            <a:r>
              <a:rPr lang="en-US" sz="4800">
                <a:ea typeface="+mj-lt"/>
                <a:cs typeface="+mj-lt"/>
              </a:rPr>
              <a:t>Air Quality and Water Quality</a:t>
            </a: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108A7-DCAF-4657-F761-BA4DCC100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067" y="2880619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2000"/>
              <a:t>Data Analysis Capstone</a:t>
            </a:r>
          </a:p>
          <a:p>
            <a:pPr algn="ctr"/>
            <a:r>
              <a:rPr lang="en-US" sz="1600"/>
              <a:t>Python | Pandas | Jupyter Notebook | Anaconda | Matplotlib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82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C9C2-B772-B564-40FE-06394F228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63385"/>
            <a:ext cx="8596668" cy="1039586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Air VS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B05CD-2CB6-F364-1FF5-30E0E8D04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4446"/>
            <a:ext cx="9004882" cy="388077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lvl="1">
              <a:lnSpc>
                <a:spcPct val="260000"/>
              </a:lnSpc>
              <a:buFont typeface="Courier New" charset="2"/>
              <a:buChar char="o"/>
            </a:pPr>
            <a:r>
              <a:rPr lang="en-US" sz="3200"/>
              <a:t>Does the quality of air affect the quality of water?</a:t>
            </a:r>
            <a:endParaRPr lang="en-US"/>
          </a:p>
          <a:p>
            <a:pPr lvl="1">
              <a:lnSpc>
                <a:spcPct val="260000"/>
              </a:lnSpc>
              <a:buFont typeface="Courier New" charset="2"/>
              <a:buChar char="o"/>
            </a:pPr>
            <a:r>
              <a:rPr lang="en-US" sz="3200"/>
              <a:t>To what degree do they interact?</a:t>
            </a:r>
          </a:p>
          <a:p>
            <a:pPr lvl="1">
              <a:lnSpc>
                <a:spcPct val="260000"/>
              </a:lnSpc>
              <a:buFont typeface="Courier New" charset="2"/>
              <a:buChar char="o"/>
            </a:pPr>
            <a:r>
              <a:rPr lang="en-US" sz="3200"/>
              <a:t>Can we improve both by improving one?</a:t>
            </a:r>
          </a:p>
        </p:txBody>
      </p:sp>
    </p:spTree>
    <p:extLst>
      <p:ext uri="{BB962C8B-B14F-4D97-AF65-F5344CB8AC3E}">
        <p14:creationId xmlns:p14="http://schemas.microsoft.com/office/powerpoint/2010/main" val="334423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316B-78E0-459B-0763-0DAD673A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Air Quality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7E1CA-72BB-D1F1-3A08-FB97019A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68588"/>
            <a:ext cx="8596668" cy="3372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50000"/>
              </a:lnSpc>
            </a:pPr>
            <a:r>
              <a:rPr lang="en-US"/>
              <a:t>The amount of particulates in the air</a:t>
            </a:r>
          </a:p>
          <a:p>
            <a:pPr>
              <a:lnSpc>
                <a:spcPct val="250000"/>
              </a:lnSpc>
            </a:pPr>
            <a:r>
              <a:rPr lang="en-US"/>
              <a:t>Hazardous to health, environment, and climate</a:t>
            </a:r>
          </a:p>
          <a:p>
            <a:pPr>
              <a:lnSpc>
                <a:spcPct val="250000"/>
              </a:lnSpc>
            </a:pPr>
            <a:r>
              <a:rPr lang="en-US"/>
              <a:t>Caused by burning fuels, or things like forest fires</a:t>
            </a:r>
          </a:p>
          <a:p>
            <a:pPr>
              <a:lnSpc>
                <a:spcPct val="250000"/>
              </a:lnSpc>
            </a:pPr>
            <a:r>
              <a:rPr lang="en-US"/>
              <a:t>Major contributor to poor air 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43D11-7F4C-CD00-4DC7-4296C99E0FE5}"/>
              </a:ext>
            </a:extLst>
          </p:cNvPr>
          <p:cNvSpPr txBox="1"/>
          <p:nvPr/>
        </p:nvSpPr>
        <p:spPr>
          <a:xfrm>
            <a:off x="678543" y="2084614"/>
            <a:ext cx="85942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/>
              <a:t>PM 2.5</a:t>
            </a:r>
          </a:p>
        </p:txBody>
      </p:sp>
    </p:spTree>
    <p:extLst>
      <p:ext uri="{BB962C8B-B14F-4D97-AF65-F5344CB8AC3E}">
        <p14:creationId xmlns:p14="http://schemas.microsoft.com/office/powerpoint/2010/main" val="147162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971B-6D67-6B24-DA29-6B27D51B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Water Quality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FF95A-5D91-435C-F972-D422618F8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/>
              <a:t>Dissolved Oxygen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7DD0A-83A5-9139-779A-AB9DA0C2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294480" cy="330411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/>
              <a:t>The amount of oxygen in water</a:t>
            </a:r>
          </a:p>
          <a:p>
            <a:pPr>
              <a:lnSpc>
                <a:spcPct val="200000"/>
              </a:lnSpc>
            </a:pPr>
            <a:r>
              <a:rPr lang="en-US"/>
              <a:t>Good for plants and animals</a:t>
            </a:r>
          </a:p>
          <a:p>
            <a:pPr>
              <a:lnSpc>
                <a:spcPct val="200000"/>
              </a:lnSpc>
            </a:pPr>
            <a:r>
              <a:rPr lang="en-US"/>
              <a:t>Fluctuates seasonally</a:t>
            </a:r>
          </a:p>
          <a:p>
            <a:pPr>
              <a:lnSpc>
                <a:spcPct val="200000"/>
              </a:lnSpc>
            </a:pPr>
            <a:r>
              <a:rPr lang="en-US"/>
              <a:t>Mainly comes from the atmosphere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63397-0789-A30E-CE1A-7AA864A71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/>
              <a:t>pH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1CBB0-AE04-FAD8-D788-27DBA8F0F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70456" y="2737245"/>
            <a:ext cx="4303545" cy="330411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210000"/>
              </a:lnSpc>
            </a:pPr>
            <a:r>
              <a:rPr lang="en-US"/>
              <a:t>Measures acidic/basicness of water</a:t>
            </a:r>
          </a:p>
          <a:p>
            <a:pPr>
              <a:lnSpc>
                <a:spcPct val="210000"/>
              </a:lnSpc>
            </a:pPr>
            <a:r>
              <a:rPr lang="en-US"/>
              <a:t>Changes can corrode and hurt wildlife</a:t>
            </a:r>
          </a:p>
          <a:p>
            <a:pPr>
              <a:lnSpc>
                <a:spcPct val="210000"/>
              </a:lnSpc>
            </a:pPr>
            <a:r>
              <a:rPr lang="en-US"/>
              <a:t>Sea water wants to be around 8.0</a:t>
            </a:r>
          </a:p>
          <a:p>
            <a:pPr>
              <a:lnSpc>
                <a:spcPct val="210000"/>
              </a:lnSpc>
            </a:pPr>
            <a:r>
              <a:rPr lang="en-US"/>
              <a:t>Fluctuation negatively affects quality</a:t>
            </a:r>
          </a:p>
        </p:txBody>
      </p:sp>
    </p:spTree>
    <p:extLst>
      <p:ext uri="{BB962C8B-B14F-4D97-AF65-F5344CB8AC3E}">
        <p14:creationId xmlns:p14="http://schemas.microsoft.com/office/powerpoint/2010/main" val="316332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alendar&#10;&#10;Description automatically generated">
            <a:extLst>
              <a:ext uri="{FF2B5EF4-FFF2-40B4-BE49-F238E27FC236}">
                <a16:creationId xmlns:a16="http://schemas.microsoft.com/office/drawing/2014/main" id="{30CFC755-B796-31E8-9835-3EA4CD08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937" y="512964"/>
            <a:ext cx="7566567" cy="5249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84861-3EE4-3857-1F83-B2781971F668}"/>
              </a:ext>
            </a:extLst>
          </p:cNvPr>
          <p:cNvSpPr txBox="1"/>
          <p:nvPr/>
        </p:nvSpPr>
        <p:spPr>
          <a:xfrm>
            <a:off x="1250043" y="5758542"/>
            <a:ext cx="754198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/>
              <a:t>Fig 1. Data taken from the daily average of pH and PM2.5 in </a:t>
            </a:r>
            <a:r>
              <a:rPr lang="en-US" sz="1050" err="1">
                <a:ea typeface="+mn-lt"/>
                <a:cs typeface="+mn-lt"/>
              </a:rPr>
              <a:t>μm</a:t>
            </a:r>
            <a:r>
              <a:rPr lang="en-US" sz="1050">
                <a:ea typeface="+mn-lt"/>
                <a:cs typeface="+mn-lt"/>
              </a:rPr>
              <a:t>/m</a:t>
            </a:r>
            <a:r>
              <a:rPr lang="en-US" sz="1050" baseline="30000">
                <a:ea typeface="+mn-lt"/>
                <a:cs typeface="+mn-lt"/>
              </a:rPr>
              <a:t>3</a:t>
            </a:r>
            <a:r>
              <a:rPr lang="en-US" sz="1050">
                <a:ea typeface="+mn-lt"/>
                <a:cs typeface="+mn-lt"/>
              </a:rPr>
              <a:t> in the Lynchburg</a:t>
            </a:r>
            <a:r>
              <a:rPr lang="en-US" sz="1050"/>
              <a:t> Canal water and surrounding air from the dates of 1/01/2022 to 4/01/2022</a:t>
            </a:r>
          </a:p>
        </p:txBody>
      </p:sp>
    </p:spTree>
    <p:extLst>
      <p:ext uri="{BB962C8B-B14F-4D97-AF65-F5344CB8AC3E}">
        <p14:creationId xmlns:p14="http://schemas.microsoft.com/office/powerpoint/2010/main" val="374604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12ED14A5-C21A-3950-0BBA-134F292C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33" y="581402"/>
            <a:ext cx="7560063" cy="5245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480348-DA50-BEFC-3A0B-477D8DC01BA1}"/>
              </a:ext>
            </a:extLst>
          </p:cNvPr>
          <p:cNvSpPr txBox="1"/>
          <p:nvPr/>
        </p:nvSpPr>
        <p:spPr>
          <a:xfrm>
            <a:off x="1195615" y="5758541"/>
            <a:ext cx="754198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>
                <a:ea typeface="+mn-lt"/>
                <a:cs typeface="+mn-lt"/>
              </a:rPr>
              <a:t>Fig 2. Data taken from the daily average of Dissolved Oxygen measured in and PM2.5 in </a:t>
            </a:r>
            <a:r>
              <a:rPr lang="en-US" sz="1050" err="1"/>
              <a:t>μm</a:t>
            </a:r>
            <a:r>
              <a:rPr lang="en-US" sz="1050"/>
              <a:t>/m3 in the Lynchburg</a:t>
            </a:r>
            <a:r>
              <a:rPr lang="en-US" sz="1050">
                <a:ea typeface="+mn-lt"/>
                <a:cs typeface="+mn-lt"/>
              </a:rPr>
              <a:t> Canal water and surrounding air from the dates of 1/01/2022 to 4/01/2022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169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A66A-7EF1-0586-6824-F51222A1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Limits and Shortfalls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6FE1D-F26A-D280-6B9C-F385A4927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/>
              <a:t>Environmental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F0AAC-4E26-0845-63B5-A79976C772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Air/Water constantly fluctuating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Only one location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No control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78313-F482-EC29-4DC1-54A949F89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/>
              <a:t>Analytical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ECBC4-8871-1CE5-63BB-450F90A87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13046" cy="33041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Low sample size (3 Months)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Daily averages</a:t>
            </a:r>
          </a:p>
          <a:p>
            <a:pPr>
              <a:lnSpc>
                <a:spcPct val="200000"/>
              </a:lnSpc>
              <a:buFont typeface="Wingdings" charset="2"/>
              <a:buChar char="§"/>
            </a:pPr>
            <a:r>
              <a:rPr lang="en-US"/>
              <a:t>Lacking other key variables (ozone, salinity,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6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DC39-6534-0CEC-F414-6647D44E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C265-2BF2-AEEE-6064-DBA6EB28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800100" lvl="2" indent="0">
              <a:buNone/>
            </a:pPr>
            <a:r>
              <a:rPr lang="en-US" sz="1800"/>
              <a:t>Within the limited timeframe and limited area of our data</a:t>
            </a:r>
          </a:p>
          <a:p>
            <a:pPr marL="0" indent="0" algn="ctr">
              <a:lnSpc>
                <a:spcPct val="200000"/>
              </a:lnSpc>
              <a:buNone/>
            </a:pPr>
            <a:endParaRPr lang="en-US"/>
          </a:p>
          <a:p>
            <a:pPr lvl="1">
              <a:lnSpc>
                <a:spcPct val="200000"/>
              </a:lnSpc>
              <a:buFont typeface="Wingdings" charset="2"/>
              <a:buChar char="ü"/>
            </a:pPr>
            <a:r>
              <a:rPr lang="en-US"/>
              <a:t>PM 2.5 might have no effect on the pH of surrounding water</a:t>
            </a:r>
          </a:p>
          <a:p>
            <a:pPr lvl="1">
              <a:lnSpc>
                <a:spcPct val="200000"/>
              </a:lnSpc>
              <a:buFont typeface="Wingdings" charset="2"/>
              <a:buChar char="ü"/>
            </a:pPr>
            <a:r>
              <a:rPr lang="en-US"/>
              <a:t>PM 2.5 might have a beneficial effect on the dissolved oxygen of surrounding water</a:t>
            </a:r>
          </a:p>
          <a:p>
            <a:pPr lvl="1">
              <a:lnSpc>
                <a:spcPct val="200000"/>
              </a:lnSpc>
              <a:buFont typeface="Wingdings" charset="2"/>
              <a:buChar char="ü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8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D32A-F985-D555-5BFD-AF56F84C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Further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C7DF-3A24-8F6F-E526-20DAFB65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191" y="2151518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buFont typeface="Wingdings" charset="2"/>
              <a:buChar char="v"/>
            </a:pPr>
            <a:r>
              <a:rPr lang="en-US" sz="2800"/>
              <a:t>Longer time frame</a:t>
            </a:r>
          </a:p>
          <a:p>
            <a:pPr>
              <a:lnSpc>
                <a:spcPct val="200000"/>
              </a:lnSpc>
              <a:buFont typeface="Wingdings" charset="2"/>
              <a:buChar char="v"/>
            </a:pPr>
            <a:r>
              <a:rPr lang="en-US" sz="2800"/>
              <a:t>More Variables</a:t>
            </a:r>
          </a:p>
          <a:p>
            <a:pPr>
              <a:lnSpc>
                <a:spcPct val="200000"/>
              </a:lnSpc>
              <a:buFont typeface="Wingdings" charset="2"/>
              <a:buChar char="v"/>
            </a:pPr>
            <a:r>
              <a:rPr lang="en-US" sz="2800"/>
              <a:t>More controlled environments</a:t>
            </a:r>
          </a:p>
          <a:p>
            <a:pPr>
              <a:buFont typeface="Wingdings" charset="2"/>
              <a:buChar char="v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327521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Facet</vt:lpstr>
      <vt:lpstr>Air Quality and Water Quality</vt:lpstr>
      <vt:lpstr>Air VS Water</vt:lpstr>
      <vt:lpstr>Air Quality Concepts</vt:lpstr>
      <vt:lpstr>Water Quality Concepts</vt:lpstr>
      <vt:lpstr>PowerPoint Presentation</vt:lpstr>
      <vt:lpstr>PowerPoint Presentation</vt:lpstr>
      <vt:lpstr>Limits and Shortfalls</vt:lpstr>
      <vt:lpstr>Conclusions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2022-04-28T20:28:39Z</dcterms:created>
  <dcterms:modified xsi:type="dcterms:W3CDTF">2022-05-03T18:30:07Z</dcterms:modified>
</cp:coreProperties>
</file>